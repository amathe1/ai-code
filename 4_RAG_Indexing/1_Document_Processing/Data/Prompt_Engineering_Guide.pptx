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91" r:id="rId42"/>
    <p:sldId id="292" r:id="rId43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2.xml"/><Relationship Id="rId43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2286000"/>
            <a:ext cx="7619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293B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The Art &amp; Science of Communicating with Large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754880"/>
            <a:ext cx="39620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563EB"/>
                </a:solidFill>
                <a:latin typeface="Calibri"/>
              </a:defRPr>
            </a:pPr>
            <a:r>
              <a:t>A Comprehensive Guide for Practitioners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7315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Introduction to LLMs &amp; Their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7315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0116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Prompt Basics  —  What is a Prompt?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7315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974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Anatomy of a Well-Structured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37560"/>
            <a:ext cx="7315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383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Prompt Engineering Techniques (Deep Dive)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7315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Common Pitfalls &amp; Best Practices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09160"/>
            <a:ext cx="7315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Practical Tips &amp;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03628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Introduction to 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Understanding the technology behind the conversation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What is a Large Language Model (LLM)?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A neural network trained on massive text corpora (books, websites, code, etc.)</a:t>
            </a:r>
          </a:p>
          <a:p>
            <a:pPr>
              <a:lnSpc>
                <a:spcPts val="255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Learns statistical patterns of language  —  predicts the next token</a:t>
            </a:r>
          </a:p>
          <a:p>
            <a:pPr>
              <a:lnSpc>
                <a:spcPts val="255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Core idea: Given a sequence of words, what word is most likely to come next?</a:t>
            </a:r>
          </a:p>
          <a:p>
            <a:pPr>
              <a:lnSpc>
                <a:spcPts val="255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"Large" refers to billions of parameters (GPT-4: ~1.8T, Llama 3: 405B, Gemini Ultra: ~1T+)</a:t>
            </a:r>
          </a:p>
          <a:p>
            <a:pPr>
              <a:lnSpc>
                <a:spcPts val="255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Training phases: Pre-training (self-supervised) → Fine-tuning (supervised) → RLHF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80160"/>
            <a:ext cx="3657600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Key Insight</a:t>
            </a:r>
            <a:br/>
            <a:br/>
            <a:r>
              <a:t>LLMs don't "understand"</a:t>
            </a:r>
            <a:br/>
            <a:r>
              <a:t>language like humans.</a:t>
            </a:r>
            <a:br/>
            <a:r>
              <a:t>They are sophisticated</a:t>
            </a:r>
            <a:br/>
            <a:r>
              <a:t>pattern-completion</a:t>
            </a:r>
            <a:br/>
            <a:r>
              <a:t>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5309"/>
                </a:solidFill>
                <a:latin typeface="Calibri"/>
              </a:defRPr>
            </a:pPr>
            <a:r>
              <a:t>Think of it as: You give a prompt (input text) → The model completes it (output 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The LLM Landscape (2024-2026)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27432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GPT-4o / o1 / o3</a:t>
            </a:r>
            <a:br/>
            <a:r>
              <a:t>(OpenAI)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280160"/>
            <a:ext cx="27432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Claude 3.5 / Opus 4</a:t>
            </a:r>
            <a:br/>
            <a:r>
              <a:t>(Anthropic)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280160"/>
            <a:ext cx="27432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Gemini 2.0</a:t>
            </a:r>
            <a:br/>
            <a:r>
              <a:t>(Google DeepMind)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2743200" cy="914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Llama 3.x</a:t>
            </a:r>
            <a:br/>
            <a:r>
              <a:t>(Meta (Open))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468880"/>
            <a:ext cx="2743200" cy="914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Mistral / Mixtral</a:t>
            </a:r>
            <a:br/>
            <a:r>
              <a:t>(Mistral AI)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468880"/>
            <a:ext cx="2743200" cy="914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DeepSeek V3/R1</a:t>
            </a:r>
            <a:br/>
            <a:r>
              <a:t>(DeepSeek)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Context window size: 4K → 128K → 1M+ tokens (Gemini)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Multimodal capabilities: text, images, audio, video, code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Reasoning ability: Chain-of-thought, planning, self-correction</a:t>
            </a:r>
          </a:p>
          <a:p>
            <a:pPr>
              <a:lnSpc>
                <a:spcPts val="240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Open-source vs. proprietary: trade-offs in cost, control, and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What Can LLMs 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1645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Text Generation</a:t>
            </a:r>
            <a:br/>
            <a:br/>
            <a:r>
              <a:t>Articles, emails,</a:t>
            </a:r>
            <a:br/>
            <a:r>
              <a:t>reports, stories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188720"/>
            <a:ext cx="2560320" cy="164592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Code Generation</a:t>
            </a:r>
            <a:br/>
            <a:br/>
            <a:r>
              <a:t>Write, debug, explain,</a:t>
            </a:r>
            <a:br/>
            <a:r>
              <a:t>refactor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2560320" cy="164592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Reasoning</a:t>
            </a:r>
            <a:br/>
            <a:br/>
            <a:r>
              <a:t>Math, logic, analysis,</a:t>
            </a:r>
            <a:br/>
            <a:r>
              <a:t>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188720"/>
            <a:ext cx="2560320" cy="1645920"/>
          </a:xfrm>
          <a:prstGeom prst="roundRect">
            <a:avLst/>
          </a:prstGeom>
          <a:solidFill>
            <a:srgbClr val="F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Translation</a:t>
            </a:r>
            <a:br/>
            <a:br/>
            <a:r>
              <a:t>100+ languages,</a:t>
            </a:r>
            <a:br/>
            <a:r>
              <a:t>style transfer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560320" cy="1645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Summarization</a:t>
            </a:r>
            <a:br/>
            <a:br/>
            <a:r>
              <a:t>Condense long docs</a:t>
            </a:r>
            <a:br/>
            <a:r>
              <a:t>into key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108960"/>
            <a:ext cx="2560320" cy="164592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Q&amp;A / Search</a:t>
            </a:r>
            <a:br/>
            <a:br/>
            <a:r>
              <a:t>Answer questions</a:t>
            </a:r>
            <a:br/>
            <a:r>
              <a:t>over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108960"/>
            <a:ext cx="2560320" cy="16459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Classification</a:t>
            </a:r>
            <a:br/>
            <a:br/>
            <a:r>
              <a:t>Sentiment, intent,</a:t>
            </a:r>
            <a:br/>
            <a:r>
              <a:t>topic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3108960"/>
            <a:ext cx="2560320" cy="1645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Creative Tasks</a:t>
            </a:r>
            <a:br/>
            <a:br/>
            <a:r>
              <a:t>Brainstorm, ideate,</a:t>
            </a:r>
            <a:br/>
            <a:r>
              <a:t>role-play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Calibri"/>
              </a:defRPr>
            </a:pPr>
            <a:r>
              <a:t>The quality of ALL these capabilities depends heavily on HOW you prompt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LLM Limitations to Keep in Mind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Hallucinations: Confidently generates plausible but false information</a:t>
            </a:r>
          </a:p>
          <a:p>
            <a:pPr>
              <a:lnSpc>
                <a:spcPts val="256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Knowledge cutoff: Training data has a fixed end date</a:t>
            </a:r>
          </a:p>
          <a:p>
            <a:pPr>
              <a:lnSpc>
                <a:spcPts val="256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Context window limits: Cannot process arbitrarily long inputs</a:t>
            </a:r>
          </a:p>
          <a:p>
            <a:pPr>
              <a:lnSpc>
                <a:spcPts val="256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No real-time data: Cannot browse the web or access live databases (without tools)</a:t>
            </a:r>
          </a:p>
          <a:p>
            <a:pPr>
              <a:lnSpc>
                <a:spcPts val="256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Sensitivity to phrasing: Small prompt changes can cause very different outputs</a:t>
            </a:r>
          </a:p>
          <a:p>
            <a:pPr>
              <a:lnSpc>
                <a:spcPts val="256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Bias: Reflects biases present in training data</a:t>
            </a:r>
          </a:p>
          <a:p>
            <a:pPr>
              <a:lnSpc>
                <a:spcPts val="2560"/>
              </a:lnSpc>
              <a:spcAft>
                <a:spcPts val="400"/>
              </a:spcAft>
            </a:pPr>
            <a:r>
              <a:rPr sz="1600">
                <a:solidFill>
                  <a:srgbClr val="2563EB"/>
                </a:solidFill>
                <a:latin typeface="Calibri"/>
              </a:rPr>
              <a:t>▸ </a:t>
            </a:r>
            <a:r>
              <a:rPr sz="1600">
                <a:solidFill>
                  <a:srgbClr val="1E293B"/>
                </a:solidFill>
                <a:latin typeface="Calibri"/>
              </a:rPr>
              <a:t>No true reasoning: Pattern matching, not logical deduction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41148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Why This Matters</a:t>
            </a:r>
            <a:br/>
            <a:br/>
            <a:r>
              <a:t>These limitations are exactly</a:t>
            </a:r>
            <a:br/>
            <a:r>
              <a:t>WHY prompt engineering exists.</a:t>
            </a:r>
            <a:br/>
            <a:br/>
            <a:r>
              <a:t>Good prompts MITIGATE</a:t>
            </a:r>
            <a:br/>
            <a:r>
              <a:t>these weaknesses by:</a:t>
            </a:r>
            <a:br/>
            <a:br/>
            <a:r>
              <a:t>• Providing context &amp; constraints</a:t>
            </a:r>
            <a:br/>
            <a:r>
              <a:t>• Breaking complex tasks down</a:t>
            </a:r>
            <a:br/>
            <a:r>
              <a:t>• Asking for verification steps</a:t>
            </a:r>
            <a:br/>
            <a:r>
              <a:t>• Setting clear output formats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03628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Prompt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The foundation of effective human-AI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What is a Prompt?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Calibri"/>
              </a:defRPr>
            </a:pPr>
            <a:r>
              <a:t>A prompt is any text input you provide to an LLM to elicit a desired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Calibri"/>
              </a:defRPr>
            </a:pPr>
            <a:r>
              <a:t>It is the INTERFACE between human intent and machine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Simple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457200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What is machine learning?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Engineered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530352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You are a senior data scientist explaining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concepts to a business audience.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Explain machine learning in 3 paragraphs: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1. What it is (non-technical definition)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2. A real-world business example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3. Why it matters for our industry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Use simple language. Avoid jargon.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The difference? Specificity, context, constraints, and 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Why Does Prompt Engineering Matter?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2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Same model, vastly different results based on prompt quality</a:t>
            </a:r>
          </a:p>
          <a:p>
            <a:pPr>
              <a:lnSpc>
                <a:spcPts val="272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Reduces hallucinations and off-topic responses</a:t>
            </a:r>
          </a:p>
          <a:p>
            <a:pPr>
              <a:lnSpc>
                <a:spcPts val="272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Saves time and API costs (fewer retries, shorter outputs)</a:t>
            </a:r>
          </a:p>
          <a:p>
            <a:pPr>
              <a:lnSpc>
                <a:spcPts val="272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Enables complex multi-step reasoning</a:t>
            </a:r>
          </a:p>
          <a:p>
            <a:pPr>
              <a:lnSpc>
                <a:spcPts val="272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Makes LLM outputs production-ready and consistent</a:t>
            </a:r>
          </a:p>
          <a:p>
            <a:pPr>
              <a:lnSpc>
                <a:spcPts val="2720"/>
              </a:lnSpc>
              <a:spcAft>
                <a:spcPts val="400"/>
              </a:spcAft>
            </a:pPr>
            <a:r>
              <a:rPr sz="1700">
                <a:solidFill>
                  <a:srgbClr val="2563EB"/>
                </a:solidFill>
                <a:latin typeface="Calibri"/>
              </a:rPr>
              <a:t>▸ </a:t>
            </a:r>
            <a:r>
              <a:rPr sz="1700">
                <a:solidFill>
                  <a:srgbClr val="1E293B"/>
                </a:solidFill>
                <a:latin typeface="Calibri"/>
              </a:rPr>
              <a:t>Bridges the gap between what you WANT and what you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32004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47857"/>
                </a:solidFill>
                <a:latin typeface="Calibri"/>
              </a:defRPr>
            </a:pPr>
            <a:r>
              <a:t>Real Impact</a:t>
            </a:r>
            <a:br/>
            <a:br/>
            <a:r>
              <a:t>• Up to 40% improvement in accuracy</a:t>
            </a:r>
            <a:br/>
            <a:r>
              <a:t>   with structured prompts</a:t>
            </a:r>
            <a:br/>
            <a:br/>
            <a:r>
              <a:t>• 50-70% fewer retries needed</a:t>
            </a:r>
            <a:br/>
            <a:br/>
            <a:r>
              <a:t>• Consistent, reproducible outputs</a:t>
            </a:r>
            <a:br/>
            <a:r>
              <a:t>   across team members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Key Terminology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0116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344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basic unit of text processing. ~4 characters = 1 token in English. Models have token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0116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Context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74519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Maximum number of tokens (input + output) a model can process in a single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20116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14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Controls randomness. 0 = deterministic, 1 = creative. Range 0-2 for most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20116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Top-p (Nucleus)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54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Alternative to temperature. Considers only the top p% probable tokens.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40"/>
            <a:ext cx="20116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94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Hidden instructions that set the model's persona, rules, and behavior constraints.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20116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Few-shot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34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Providing examples in the prompt to demonstrate the desired input-output pattern.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201168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Completion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74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model's generated response/output to your prompt.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03628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Anatomy of a Well-Structured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The building blocks that separate good prompts from great 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The 6 Core Components of a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74320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1. Role /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34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Who should the model be?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234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47857"/>
                </a:solidFill>
                <a:latin typeface="Calibri"/>
              </a:defRPr>
            </a:pPr>
            <a:r>
              <a:t>"You are a senior backend engineer..."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743200" cy="6858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2.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402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Background info the model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4027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47857"/>
                </a:solidFill>
                <a:latin typeface="Calibri"/>
              </a:defRPr>
            </a:pPr>
            <a:r>
              <a:t>"We have a REST API built with FastAPI..."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2743200" cy="6858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3. Task / 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46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What exactly should it do?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246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47857"/>
                </a:solidFill>
                <a:latin typeface="Calibri"/>
              </a:defRPr>
            </a:pPr>
            <a:r>
              <a:t>"Write a function that validates..."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2743200" cy="6858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4. Input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5195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specific data to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25195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47857"/>
                </a:solidFill>
                <a:latin typeface="Calibri"/>
              </a:defRPr>
            </a:pPr>
            <a:r>
              <a:t>"Here is the JSON schema: {...}"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2743200" cy="685800"/>
          </a:xfrm>
          <a:prstGeom prst="roundRect">
            <a:avLst/>
          </a:prstGeom>
          <a:solidFill>
            <a:srgbClr val="FA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5. Output 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257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How should results look?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257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47857"/>
                </a:solidFill>
                <a:latin typeface="Calibri"/>
              </a:defRPr>
            </a:pPr>
            <a:r>
              <a:t>"Return as a markdown table with..."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217920"/>
            <a:ext cx="2743200" cy="6858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6.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263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Rules, limits,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6263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47857"/>
                </a:solidFill>
                <a:latin typeface="Calibri"/>
              </a:defRPr>
            </a:pPr>
            <a:r>
              <a:t>"Max 200 words. No technical jargon."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Putting It All Together — Full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685800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>
                <a:solidFill>
                  <a:srgbClr val="047857"/>
                </a:solidFill>
                <a:latin typeface="Consolas"/>
              </a:defRPr>
            </a:pPr>
            <a:r>
              <a:t>## ROLE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You are a senior Python developer with expertise in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data validation and API design.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## CONTEXT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We are building a healthcare patient portal. Data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accuracy is critical. We use Pydantic v2 for validation.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## TASK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Write a Pydantic model for patient registration that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validates: name, DOB, email, phone, insurance ID.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## INPUT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Insurance ID format: 3 letters + 9 digits (e.g., ABC123456789)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Phone: US format only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## OUTPUT FORMAT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Return only the Python code with docstrings.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Include field-level validation examples in docstrings.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## CONSTRAINTS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- Use Pydantic v2 syntax (model_validator, field_validator)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- All fields required except insurance ID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- Add appropriate error messages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- No external dependencies beyond Pydantic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75569"/>
                </a:solidFill>
                <a:latin typeface="Calibri"/>
              </a:defRPr>
            </a:pPr>
            <a:r>
              <a:t>Why This Works</a:t>
            </a:r>
            <a:br/>
            <a:br/>
            <a:r>
              <a:t>✓ Clear role sets expertise level</a:t>
            </a:r>
            <a:br/>
            <a:br/>
            <a:r>
              <a:t>✓ Context gives domain info</a:t>
            </a:r>
            <a:br/>
            <a:br/>
            <a:r>
              <a:t>✓ Task is specific &amp; actionable</a:t>
            </a:r>
            <a:br/>
            <a:br/>
            <a:r>
              <a:t>✓ Input provides exact specs</a:t>
            </a:r>
            <a:br/>
            <a:br/>
            <a:r>
              <a:t>✓ Output format is explicit</a:t>
            </a:r>
            <a:br/>
            <a:br/>
            <a:r>
              <a:t>✓ Constraints prevent scope creep</a:t>
            </a:r>
            <a:br/>
            <a:br/>
            <a:r>
              <a:t>✓ No ambiguity = consistent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Reusable Prompt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# UNIVERSAL PROMPT TEMPLATE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# Copy and adapt for any use case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[ROLE]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You are a {role} with expertise in {domain}.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[CONTEXT]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Background: {relevant background information}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Current situation: {what has happened / what exists}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[TASK]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{Clear, specific instruction of what to do}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[INPUT DATA]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{Any data, examples, or references the model needs}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[OUTPUT FORMAT]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Format: {JSON / Markdown / Table / Code / Bullet points}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Length: {word count or number of items}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Structure: {specific structure requirements}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[CONSTRAINTS]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{Constraint 1: e.g., tone, language level}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{Constraint 2: e.g., things to avoid}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{Constraint 3: e.g., specific requirements}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03628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Prompt Engineering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systematic deep-dive into proven methods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1: Zero-Shot Prompting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Ask the model to perform a task WITHOUT providing any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Relies entirely on the model's pre-trained knowledge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Best for simple, well-defined tasks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The model infers the pattern from the instruction alone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Works well when the task is common (summarize, translate, classify)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502920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Classify the sentiment of this review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as Positive, Negative, or Neutral: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"The product arrived on time and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works exactly as described."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Sentiment: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3200400" cy="7315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47857"/>
                </a:solidFill>
                <a:latin typeface="Calibri"/>
              </a:defRPr>
            </a:pPr>
            <a:r>
              <a:t>✓ Simple tasks</a:t>
            </a:r>
            <a:br/>
            <a:r>
              <a:t>✓ Common formats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846320"/>
            <a:ext cx="3200400" cy="7315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Calibri"/>
              </a:defRPr>
            </a:pPr>
            <a:r>
              <a:t>✗ Complex reasoning</a:t>
            </a:r>
            <a:br/>
            <a:r>
              <a:t>✗ Unusual output formats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846320"/>
            <a:ext cx="347472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Difficulty: Beginner</a:t>
            </a:r>
            <a:br/>
            <a:r>
              <a:t>Use when: Task is straightforward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2: Few-Shot Prompting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Provide 2-5 examples in the prompt to demonstrate the desired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4864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047857"/>
                </a:solidFill>
                <a:latin typeface="Consolas"/>
              </a:defRPr>
            </a:pPr>
            <a:r>
              <a:t>Classify the customer intent.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Message: "I want to cancel my subscription"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Intent: Cancellation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Message: "How do I reset my password?"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Intent: Account Support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Message: "Can I upgrade to the pro plan?"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Intent: Upgrade Inquiry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Message: "Your app crashed 3 times today"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Intent: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Best Practices: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Use 3-5 diverse, representative examples</a:t>
            </a:r>
          </a:p>
          <a:p>
            <a:pPr>
              <a:lnSpc>
                <a:spcPts val="224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Keep examples consistent in format</a:t>
            </a:r>
          </a:p>
          <a:p>
            <a:pPr>
              <a:lnSpc>
                <a:spcPts val="224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Cover edge cases in your examples</a:t>
            </a:r>
          </a:p>
          <a:p>
            <a:pPr>
              <a:lnSpc>
                <a:spcPts val="224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Order matters: put complex examples last</a:t>
            </a:r>
          </a:p>
          <a:p>
            <a:pPr>
              <a:lnSpc>
                <a:spcPts val="224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Balance example categories (don't over-represent one class)</a:t>
            </a:r>
          </a:p>
          <a:p>
            <a:pPr>
              <a:lnSpc>
                <a:spcPts val="224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Use delimiters to separate examples clearly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3: Chain-of-Thought (CoT)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Force the model to show its reasoning step by step before giving the final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Without CoT: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Q: A store has 45 apples. They sell 60%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and receive a shipment of 30. How many?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A: 48  (sometimes wrong!)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With CoT: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02920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Q: A store has 45 apples. They sell 60%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and receive a shipment of 30. How many?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Let's think step by step.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A: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1. Start: 45 apples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2. Sold: 45 x 0.60 = 27 apples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3. Remaining: 45 - 27 = 18 apples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4. After shipment: 18 + 30 = 48 apples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Trigger Phrases: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"Let's think step by step"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"Walk me through your reasoning"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"Show your work before the answer"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"Break this down into steps"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"Explain your thought process"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When to use CoT: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Math &amp; logic problems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Multi-step reasoning tasks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Complex decision-making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Debugging &amp; root-cause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4: Self-Consistency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Generate multiple CoT reasoning paths, then take the majority vote on the final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2860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Same Prompt</a:t>
            </a:r>
            <a:br/>
            <a:r>
              <a:t>(with CoT)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743200" cy="6400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Path 1 → Answer: 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651760"/>
            <a:ext cx="2743200" cy="6400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Path 2 → Answer: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474720"/>
            <a:ext cx="2743200" cy="6400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Path 3 → Answer: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286000"/>
            <a:ext cx="2286000" cy="9144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Majority Vote</a:t>
            </a:r>
            <a:br/>
            <a:r>
              <a:t>Answer: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Run the same prompt 3-5 times with temperature &gt; 0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Each run produces a different reasoning path but (hopefully) converges on the correct answer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Significantly improves accuracy on math, logic, and factual questions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Trade-off: Higher cost (multiple API calls) for better accuracy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5: Role / Persona Prompting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Assign the model a specific identity, expertise, or perspective to shape its responses.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926080" cy="1828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Expert</a:t>
            </a:r>
            <a:br/>
            <a:br/>
            <a:r>
              <a:t>You are a senior security</a:t>
            </a:r>
            <a:br/>
            <a:r>
              <a:t>engineer at a FAANG company</a:t>
            </a:r>
            <a:br/>
            <a:r>
              <a:t>with 15 years of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011680"/>
            <a:ext cx="2926080" cy="18288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Audience-Aware</a:t>
            </a:r>
            <a:br/>
            <a:br/>
            <a:r>
              <a:t>You are a teacher explaining</a:t>
            </a:r>
            <a:br/>
            <a:r>
              <a:t>concepts to a 10-year-old.</a:t>
            </a:r>
            <a:br/>
            <a:r>
              <a:t>Use simple words &amp; analogies.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011680"/>
            <a:ext cx="2926080" cy="18288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Adversarial</a:t>
            </a:r>
            <a:br/>
            <a:br/>
            <a:r>
              <a:t>You are a skeptical code</a:t>
            </a:r>
            <a:br/>
            <a:r>
              <a:t>reviewer. Find every possible</a:t>
            </a:r>
            <a:br/>
            <a:r>
              <a:t>bug, edge case, and flaw.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Why it works: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Activates domain-specific knowledge patterns learned during training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Controls vocabulary, depth, and tone of the response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Compound roles work too: "You are a Python developer who specializes in performance optimization"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Tip: Be specific about years of experience, company type, and specialization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6: Output Formatting &amp; Structuring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Explicitly specify the output format to get consistent, parseable, and usable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JSON Output: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Extract entities from this text and return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as JSON with this exact schema: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{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  "persons": [{"name": str, "role": str}],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  "organizations": [{"name": str}],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  "dates": [{"date": str, "event": str}]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Return ONLY valid JSON. No markdown.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Other Formats: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Markdown tables for comparisons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Numbered lists for sequential steps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XML tags for structured extraction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CSV for data that feeds into spreadsheets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YAML for configuration-style output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Code blocks with language specifiers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515600" cy="8229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5309"/>
                </a:solidFill>
                <a:latin typeface="Calibri"/>
              </a:defRPr>
            </a:pPr>
            <a:r>
              <a:t>Pro Tip: Provide an example of the EXACT output structure you want. This is far more effective than describing the format in words.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7: Delimiters &amp; Section Markers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Use clear delimiters to separate different parts of your prompt and prevent injection/confusion.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4864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### INSTRUCTION ###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Summarize the following article in 3 bullet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points.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### ARTICLE ###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"""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{article text goes here}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"""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### OUTPUT FORMAT ###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Bullet point 1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Bullet point 2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Bullet point 3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### CONSTRAINTS ###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Each bullet max 20 words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Focus on key findings only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- Use present tense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Common Delimiters: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Triple quotes: """text"""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Triple backticks: ```text```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Hash markers: ### SECTION ###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XML tags: &lt;context&gt;text&lt;/context&gt;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Dashes: ---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Why delimiters matter: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Prevents prompt injection attacks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Clearly separates data from instructions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Helps model parse complex prompts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Makes prompts more readable for humans too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8: Iterative Refinement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Treat prompting as a conversation. Refine based on the model's output across multiple 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286000" cy="13716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1: Draft</a:t>
            </a:r>
            <a:br/>
            <a:br/>
            <a:r>
              <a:t>Write initial prompt</a:t>
            </a:r>
            <a:br/>
            <a:r>
              <a:t>with basic instruction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011680"/>
            <a:ext cx="2286000" cy="13716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2: Evaluate</a:t>
            </a:r>
            <a:br/>
            <a:br/>
            <a:r>
              <a:t>Check output quality.</a:t>
            </a:r>
            <a:br/>
            <a:r>
              <a:t>What's missing or wrong?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11680"/>
            <a:ext cx="2286000" cy="13716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3: Refine</a:t>
            </a:r>
            <a:br/>
            <a:br/>
            <a:r>
              <a:t>Add constraints, examples,</a:t>
            </a:r>
            <a:br/>
            <a:r>
              <a:t>or clarifications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2286000" cy="1371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Step 4: Repeat</a:t>
            </a:r>
            <a:br/>
            <a:br/>
            <a:r>
              <a:t>Iterate until output</a:t>
            </a:r>
            <a:br/>
            <a:r>
              <a:t>matches expectations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Refinement Strategies: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Too verbose? Add: "Be concise. Max 100 words."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Too vague? Add specific examples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Wrong format? Show exact output template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Missing info? Add context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Wrong tone? Specify audience &amp; formality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Hallucinating? Add: "Only use provided info"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Too generic? Add domain constraints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Inconsistent? Add few-shot examples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9: Negative Prompting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Tell the model what NOT to do. This is often as important as saying what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Without Negative Prompting: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047857"/>
                </a:solidFill>
                <a:latin typeface="Consolas"/>
              </a:defRPr>
            </a:pPr>
            <a:r>
              <a:t>Explain quantum computing.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# Result: 500-word essay with jargon,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# wave functions, qubits, superposition...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With Negative Prompting: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02920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>
                <a:solidFill>
                  <a:srgbClr val="047857"/>
                </a:solidFill>
                <a:latin typeface="Consolas"/>
              </a:defRPr>
            </a:pPr>
            <a:r>
              <a:t>Explain quantum computing.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DO NOT: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- Use technical jargon or equations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- Exceed 150 words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- Assume prior physics knowledge</a:t>
            </a:r>
          </a:p>
          <a:p>
            <a:pPr>
              <a:defRPr sz="1400">
                <a:solidFill>
                  <a:srgbClr val="047857"/>
                </a:solidFill>
                <a:latin typeface="Consolas"/>
              </a:defRPr>
            </a:pPr>
            <a:r>
              <a:t>- Include historical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Common Negative Constraints: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"Do not make up information"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"Do not include disclaimers or caveats"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"Do not repeat the question in your answer"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"Do not use bullet points" (when you want prose)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"Do not explain your reasoning" (when you want only the answer)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"Avoid passive voice"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"Never use the phrase 'as an AI language model'"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"Do not include a greeting or sign-off"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10: Meta-Prompting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Ask the LLM to help you write or improve prompts. Use AI to optimize AI 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3200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>
                <a:solidFill>
                  <a:srgbClr val="047857"/>
                </a:solidFill>
                <a:latin typeface="Consolas"/>
              </a:defRPr>
            </a:pPr>
            <a:r>
              <a:t># Ask the LLM to generate a prompt: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I need to extract action items from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meeting transcripts. Write me an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optimized prompt that will: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1. Identify all action items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2. Assign them to the right person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3. Set priority levels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4. Output as structured JSON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Make the prompt detailed and include</a:t>
            </a:r>
          </a:p>
          <a:p>
            <a:pPr>
              <a:defRPr sz="1300">
                <a:solidFill>
                  <a:srgbClr val="047857"/>
                </a:solidFill>
                <a:latin typeface="Consolas"/>
              </a:defRPr>
            </a:pPr>
            <a:r>
              <a:t>few-shot examples.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Meta-Prompting Uses: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Generate domain-specific prompt templates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Improve existing prompts: "How can I improve this prompt?"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Debug failing prompts: "Why might this prompt produce X?"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Translate prompts between models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Create evaluation criteria for prompt outputs</a:t>
            </a:r>
          </a:p>
          <a:p>
            <a:pPr>
              <a:lnSpc>
                <a:spcPts val="2100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Generate test cases for prompt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The most underrated technique! Let the model critique and improve your prompts before you use them.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Technique 11: ReAct (Reason + Act)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Combine reasoning (thinking) with actions (tool use) in an interleaved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82880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234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I need to find the current</a:t>
            </a:r>
            <a:br/>
            <a:r>
              <a:t>stock price of AAPL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828800" cy="6858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488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Search: "AAPL stock price</a:t>
            </a:r>
            <a:br/>
            <a:r>
              <a:t> today"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828800" cy="68580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632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Result: AAPL is trading</a:t>
            </a:r>
            <a:br/>
            <a:r>
              <a:t>at $195.50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82880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Thought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9776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Now I need to calculate</a:t>
            </a:r>
            <a:br/>
            <a:r>
              <a:t>the P/E ratio...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828800" cy="6858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8920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Calculate: 195.50 / 6.42</a:t>
            </a:r>
            <a:br/>
            <a:r>
              <a:t>= 30.45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82880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Final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806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AAPL P/E ratio is 30.45,</a:t>
            </a:r>
            <a:br/>
            <a:r>
              <a:t>which indicates...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Key Concepts: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459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Used in AI agents (LangChain, AutoGPT, etc.)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Model decides WHEN to use tools vs. reason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Thought: internal reasoning about what to do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Action: external tool call (search, calculate, API)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Observation: result from the tool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Loop continues until final answer is reached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Enables complex, multi-step problem solving</a:t>
            </a:r>
          </a:p>
          <a:p>
            <a:pPr>
              <a:lnSpc>
                <a:spcPts val="1959"/>
              </a:lnSpc>
              <a:spcAft>
                <a:spcPts val="400"/>
              </a:spcAft>
            </a:pPr>
            <a:r>
              <a:rPr sz="1400">
                <a:solidFill>
                  <a:srgbClr val="2563EB"/>
                </a:solidFill>
                <a:latin typeface="Calibri"/>
              </a:rPr>
              <a:t>▸ </a:t>
            </a:r>
            <a:r>
              <a:rPr sz="1400">
                <a:solidFill>
                  <a:srgbClr val="1E293B"/>
                </a:solidFill>
                <a:latin typeface="Calibri"/>
              </a:rPr>
              <a:t>Foundation of modern AI agent architectures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03628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Common Pitfalls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Learn from the most frequent mistakes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Common Prompt Engineering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3716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Vague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"Make it better" vs "Improve readability by shortening sentences to &lt;20 words"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3716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Information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Dumping entire documents without highlighting what to focus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3716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No Output Specification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Not specifying format leads to inconsistent, unparseable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3716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Assuming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The model doesn't know your project, team, or previous conversations (in a new session)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3716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Not Iterating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Expecting a perfect result on the first try instead of refining the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3716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Ignoring Temperature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60807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Using default temperature for all tasks. Use 0 for factual, 0.7+ for creative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Prompt Engineering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4572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Calibri"/>
              </a:defRPr>
            </a:pPr>
            <a:r>
              <a:t>Be 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34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Replace "write about dogs" with "write a 200-word blog intro comparing Golden Retrievers vs Labradors for first-time owners"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572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Calibri"/>
              </a:defRPr>
            </a:pPr>
            <a:r>
              <a:t>Provide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Always include WHO you are, WHAT the task is for, and WHO the audience 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4572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Calibri"/>
              </a:defRPr>
            </a:pPr>
            <a:r>
              <a:t>Use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One good example is worth 100 words of instruction. Show, don't just tell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4572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Calibri"/>
              </a:defRPr>
            </a:pPr>
            <a:r>
              <a:t>Set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Define length, format, tone, vocabulary level, and what to avoid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4572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Calibri"/>
              </a:defRPr>
            </a:pPr>
            <a:r>
              <a:t>Iterate &amp;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Test your prompt with multiple inputs. Refine based on edge cases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4572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89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Calibri"/>
              </a:defRPr>
            </a:pPr>
            <a:r>
              <a:t>Version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348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Save successful prompts. Track what changed and why. Build a prompt library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4572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29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Calibri"/>
              </a:defRPr>
            </a:pPr>
            <a:r>
              <a:t>Evaluate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0749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Define success criteria BEFORE prompting. Measure against them consistently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Temperature &amp; Parameter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Different tasks require different parameter settings: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743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Task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18288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737360"/>
            <a:ext cx="13716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Top-p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5720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Factual /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0.0 - 0.2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2286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0.9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Code gen, data extraction, factual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Balanced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0.3 - 0.5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834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0.9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834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Summarization, translation,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Creative Writing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0.7 - 0.9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Stories, marketing copy, brainstorming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Maximum Variety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1.0 - 1.5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931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Brainstorming, poem generation, wild ideas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4A3B8"/>
                </a:solidFill>
                <a:latin typeface="Calibri"/>
              </a:defRPr>
            </a:pPr>
            <a:r>
              <a:t>Key Insight: Temperature and Top-p work together. Generally, adjust one and keep the other at default.</a:t>
            </a:r>
            <a:br/>
            <a:r>
              <a:t>For production systems, use temperature=0 for consistency and reproducibility.</a:t>
            </a:r>
            <a:br/>
            <a:r>
              <a:t>Other useful parameters: max_tokens (limit output length), stop sequences (control where generation ends).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0" name="Title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Understanding Temperature</a:t>
            </a:r>
          </a:p>
        </p:txBody>
      </p:sp>
      <p:sp>
        <p:nvSpPr>
          <p:cNvPr id="0" name="AccentBar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0" name="SectionNum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0" name="Subtitle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Controls the randomness and creativity of LLM outputs by scaling the probability distribution.</a:t>
            </a:r>
          </a:p>
        </p:txBody>
      </p:sp>
      <p:sp>
        <p:nvSpPr>
          <p:cNvPr id="0" name="Label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0" name="BulletList"/>
          <p:cNvSpPr txBox="1"/>
          <p:nvPr/>
        </p:nvSpPr>
        <p:spPr>
          <a:xfrm>
            <a:off x="731520" y="2194560"/>
            <a:ext cx="50292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At each step, the LLM assigns probabilities to every possible next token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Temperature scales these probabilities before sampling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Low temperature (0-0.2): sharpens distribution, top token dominates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Medium temperature (0.3-0.7): balanced creativity vs coherence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High temperature (0.8-1.5): flattens distribution, rare tokens get picked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Temperature = 0: always picks the single most likely token (greedy decoding)</a:t>
            </a:r>
          </a:p>
        </p:txBody>
      </p:sp>
      <p:sp>
        <p:nvSpPr>
          <p:cNvPr id="0" name="Label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Prompt: "The best programming language is..."</a:t>
            </a:r>
          </a:p>
        </p:txBody>
      </p:sp>
      <p:sp>
        <p:nvSpPr>
          <p:cNvPr id="0" name="CodeBox"/>
          <p:cNvSpPr/>
          <p:nvPr/>
        </p:nvSpPr>
        <p:spPr>
          <a:xfrm>
            <a:off x="6400800" y="2194560"/>
            <a:ext cx="5029200" cy="105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rtlCol="0" anchor="ctr" wrap="square" lIns="182880" tIns="91440"/>
          <a:lstStyle/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Temperature = 0.0  (deterministic)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/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"The best programming language is Python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because of its versatility and ease of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use across multiple domains."</a:t>
            </a:r>
          </a:p>
        </p:txBody>
      </p:sp>
      <p:sp>
        <p:nvSpPr>
          <p:cNvPr id="0" name="CodeBox"/>
          <p:cNvSpPr/>
          <p:nvPr/>
        </p:nvSpPr>
        <p:spPr>
          <a:xfrm>
            <a:off x="6400800" y="3350000"/>
            <a:ext cx="5029200" cy="105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rtlCol="0" anchor="ctr" wrap="square" lIns="182880" tIns="91440"/>
          <a:lstStyle/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>Temperature = 0.7  (balanced)</a:t>
            </a:r>
          </a:p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/>
            </a:r>
          </a:p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>"The best programming language is Rust</a:t>
            </a:r>
          </a:p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>for systems programming, though Python</a:t>
            </a:r>
          </a:p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>leads in data science and ML workflows."</a:t>
            </a:r>
          </a:p>
        </p:txBody>
      </p:sp>
      <p:sp>
        <p:nvSpPr>
          <p:cNvPr id="0" name="CodeBox"/>
          <p:cNvSpPr/>
          <p:nvPr/>
        </p:nvSpPr>
        <p:spPr>
          <a:xfrm>
            <a:off x="6400800" y="4500000"/>
            <a:ext cx="5029200" cy="105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rtlCol="0" anchor="ctr" wrap="square" lIns="182880" tIns="91440"/>
          <a:lstStyle/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>Temperature = 1.5  (highly creative)</a:t>
            </a:r>
          </a:p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/>
            </a:r>
          </a:p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>"The best programming language is whichever</a:t>
            </a:r>
          </a:p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>one sparks joy — perhaps Haskell for its</a:t>
            </a:r>
          </a:p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>elegant purity or Lua for game modding!"</a:t>
            </a:r>
          </a:p>
        </p:txBody>
      </p:sp>
      <p:sp>
        <p:nvSpPr>
          <p:cNvPr id="0" name="InsightBox"/>
          <p:cNvSpPr/>
          <p:nvPr/>
        </p:nvSpPr>
        <p:spPr>
          <a:xfrm>
            <a:off x="731520" y="5700000"/>
            <a:ext cx="10515600" cy="75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Key Insight: Use temperature=0 for factual/code tasks where consistency matters.</a:t>
            </a:r>
          </a:p>
          <a:p>
            <a:pPr algn="ctr">
              <a:defRPr sz="1400">
                <a:solidFill>
                  <a:srgbClr val="475569"/>
                </a:solidFill>
                <a:latin typeface="Calibri"/>
              </a:defRPr>
            </a:pPr>
            <a:r>
              <a:t>Use 0.7-0.9 for creative writing. Avoid going above 1.5 — outputs become incoherent.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0" name="Title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Understanding Top-p (Nucleus Sampling)</a:t>
            </a:r>
          </a:p>
        </p:txBody>
      </p:sp>
      <p:sp>
        <p:nvSpPr>
          <p:cNvPr id="0" name="AccentBar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0" name="SectionNum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0" name="Subtitle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Limits the model's token choices to the smallest set whose cumulative probability exceeds p.</a:t>
            </a:r>
          </a:p>
        </p:txBody>
      </p:sp>
      <p:sp>
        <p:nvSpPr>
          <p:cNvPr id="0" name="Label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0" name="BulletList"/>
          <p:cNvSpPr txBox="1"/>
          <p:nvPr/>
        </p:nvSpPr>
        <p:spPr>
          <a:xfrm>
            <a:off x="731520" y="2194560"/>
            <a:ext cx="50292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After computing token probabilities, sort them highest to lowest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Add probabilities from the top until the cumulative sum reaches p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Only tokens in this "nucleus" set are candidates for sampling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Top-p = 0.1: only the very top tokens (very focused, predictable)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Top-p = 0.9: most of the distribution (diverse but coherent)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Top-p = 1.0: all tokens considered (no filtering at all)</a:t>
            </a:r>
          </a:p>
        </p:txBody>
      </p:sp>
      <p:sp>
        <p:nvSpPr>
          <p:cNvPr id="0" name="Label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Example: Next token after "The cat sat on the..."</a:t>
            </a:r>
          </a:p>
        </p:txBody>
      </p:sp>
      <p:sp>
        <p:nvSpPr>
          <p:cNvPr id="0" name="CodeBox"/>
          <p:cNvSpPr/>
          <p:nvPr/>
        </p:nvSpPr>
        <p:spPr>
          <a:xfrm>
            <a:off x="6400800" y="2194560"/>
            <a:ext cx="5029200" cy="105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rtlCol="0" anchor="ctr" wrap="square" lIns="182880" tIns="91440"/>
          <a:lstStyle/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Top-p = 0.1  (very focused)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/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Token pool: [mat]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Result: "The cat sat on the mat."</a:t>
            </a:r>
          </a:p>
          <a:p>
            <a:pPr>
              <a:defRPr sz="1200">
                <a:solidFill>
                  <a:srgbClr val="047857"/>
                </a:solidFill>
                <a:latin typeface="Consolas"/>
              </a:defRPr>
            </a:pPr>
            <a:r>
              <a:t>  -&gt; Only the most likely token qualifies</a:t>
            </a:r>
          </a:p>
        </p:txBody>
      </p:sp>
      <p:sp>
        <p:nvSpPr>
          <p:cNvPr id="0" name="CodeBox"/>
          <p:cNvSpPr/>
          <p:nvPr/>
        </p:nvSpPr>
        <p:spPr>
          <a:xfrm>
            <a:off x="6400800" y="3350000"/>
            <a:ext cx="5029200" cy="105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rtlCol="0" anchor="ctr" wrap="square" lIns="182880" tIns="91440"/>
          <a:lstStyle/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>Top-p = 0.9  (balanced)</a:t>
            </a:r>
          </a:p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/>
            </a:r>
          </a:p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>Token pool: [mat, floor, couch, bed, rug]</a:t>
            </a:r>
          </a:p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>Result: "The cat sat on the couch."</a:t>
            </a:r>
          </a:p>
          <a:p>
            <a:pPr>
              <a:defRPr sz="1200">
                <a:solidFill>
                  <a:srgbClr val="B45309"/>
                </a:solidFill>
                <a:latin typeface="Consolas"/>
              </a:defRPr>
            </a:pPr>
            <a:r>
              <a:t>  -&gt; Picks from several likely tokens</a:t>
            </a:r>
          </a:p>
        </p:txBody>
      </p:sp>
      <p:sp>
        <p:nvSpPr>
          <p:cNvPr id="0" name="CodeBox"/>
          <p:cNvSpPr/>
          <p:nvPr/>
        </p:nvSpPr>
        <p:spPr>
          <a:xfrm>
            <a:off x="6400800" y="4500000"/>
            <a:ext cx="5029200" cy="105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rtlCol="0" anchor="ctr" wrap="square" lIns="182880" tIns="91440"/>
          <a:lstStyle/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>Top-p = 1.0  (no filter)</a:t>
            </a:r>
          </a:p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/>
            </a:r>
          </a:p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>Token pool: [mat, floor, couch, ... moon, idea]</a:t>
            </a:r>
          </a:p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>Result: "The cat sat on the idea."</a:t>
            </a:r>
          </a:p>
          <a:p>
            <a:pPr>
              <a:defRPr sz="1200">
                <a:solidFill>
                  <a:srgbClr val="DC2626"/>
                </a:solidFill>
                <a:latin typeface="Consolas"/>
              </a:defRPr>
            </a:pPr>
            <a:r>
              <a:t>  -&gt; Even rare/unlikely tokens can be chosen</a:t>
            </a:r>
          </a:p>
        </p:txBody>
      </p:sp>
      <p:sp>
        <p:nvSpPr>
          <p:cNvPr id="0" name="InsightBox"/>
          <p:cNvSpPr/>
          <p:nvPr/>
        </p:nvSpPr>
        <p:spPr>
          <a:xfrm>
            <a:off x="731520" y="5700000"/>
            <a:ext cx="10515600" cy="75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475569"/>
                </a:solidFill>
                <a:latin typeface="Calibri"/>
              </a:defRPr>
            </a:pPr>
            <a:r>
              <a:t>Pro Tip: Temperature and Top-p both control randomness — adjust ONE at a time, keep the other at default.</a:t>
            </a:r>
          </a:p>
          <a:p>
            <a:pPr algn="ctr">
              <a:defRPr sz="1400">
                <a:solidFill>
                  <a:srgbClr val="475569"/>
                </a:solidFill>
                <a:latin typeface="Calibri"/>
              </a:defRPr>
            </a:pPr>
            <a:r>
              <a:t>For most use cases: set temperature for creativity control and leave top-p at 0.9-1.0.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03628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Practical Tips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Putting it all together for your daily workflow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Which Technique Should I Use?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A decision guide for choosing the right technique: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Simple, common task?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→ Zero-Shot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41148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Need consistent format?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→ Few-Shot + Output Formatting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41148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Complex reasoning?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91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→ Chain-of-Thought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41148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High-stakes accuracy?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0233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→ Self-Consistency + CoT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41148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Domain-specific knowledge?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7548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→ Role Prompting +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41148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Multi-step with tools?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→ ReAct Pattern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126480"/>
            <a:ext cx="41148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Not sure what prompt to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7857"/>
                </a:solidFill>
                <a:latin typeface="Calibri"/>
              </a:defRPr>
            </a:pPr>
            <a:r>
              <a:t>→ Meta-Prompting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Resources &amp; Further 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OpenAI Prompt Engineering Guide  —  platform.openai.com/docs/guides/prompt-engineering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Anthropic's Prompt Engineering Guide  —  docs.anthropic.com/en/docs/build-with-claude/prompt-engineering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Google's Prompt Engineering Guide  —  ai.google.dev/docs/prompt_best_practices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"Prompt Engineering Guide" by DAIR.AI  —  promptingguide.ai (comprehensive, open-source)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"Chain-of-Thought Prompting" paper  —  Wei et al., 2022 (Google Brain)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"ReAct: Synergizing Reasoning and Acting" paper  —  Yao et al., 2022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"Self-Consistency Improves CoT Reasoning"  —  Wang et al., 2022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LangChain Documentation  —  python.langchain.com (for building LLM applications)</a:t>
            </a:r>
          </a:p>
          <a:p>
            <a:pPr>
              <a:lnSpc>
                <a:spcPts val="2250"/>
              </a:lnSpc>
              <a:spcAft>
                <a:spcPts val="400"/>
              </a:spcAft>
            </a:pPr>
            <a:r>
              <a:rPr sz="1500">
                <a:solidFill>
                  <a:srgbClr val="2563EB"/>
                </a:solidFill>
                <a:latin typeface="Calibri"/>
              </a:rPr>
              <a:t>▸ </a:t>
            </a:r>
            <a:r>
              <a:rPr sz="1500">
                <a:solidFill>
                  <a:srgbClr val="1E293B"/>
                </a:solidFill>
                <a:latin typeface="Calibri"/>
              </a:rPr>
              <a:t>Practice daily: Use these techniques in your everyday LLM interactions!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286000"/>
            <a:ext cx="67052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293B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563EB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389120"/>
            <a:ext cx="39620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"The quality of your output is directly proportional</a:t>
            </a:r>
            <a:br/>
            <a:r>
              <a:t>to the quality of your input."</a:t>
            </a:r>
            <a:br/>
            <a:r>
              <a:t>— The Golden Rule of Prompt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